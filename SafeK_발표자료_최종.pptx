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SafeK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UI/UX 검수 및 디자인 설명 자료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832104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35478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화면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35478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원칙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9160" y="35478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시나리오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검수 완료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Lab  ·  2026.04.15  ·  외국인 여행자를 위한 한국 안전 관광 가이드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목차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43000"/>
          </a:xfrm>
          <a:prstGeom prst="rect">
            <a:avLst/>
          </a:prstGeom>
          <a:solidFill>
            <a:srgbClr val="EEF3FF"/>
          </a:solidFill>
          <a:ln w="12700">
            <a:solidFill>
              <a:srgbClr val="4169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14300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024128"/>
            <a:ext cx="347472" cy="34747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0241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개요 &amp; 페르소나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3898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SafeK가 해결하는 외국인 여행자 4대 페인포인트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06240" cy="1143000"/>
          </a:xfrm>
          <a:prstGeom prst="rect">
            <a:avLst/>
          </a:prstGeom>
          <a:solidFill>
            <a:srgbClr val="FFF0E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54864" cy="11430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37176" y="1024128"/>
            <a:ext cx="347472" cy="3474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10241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디자인 시안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76088" y="138988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Center · Home Dashboard · Weather Route 3개 핵심 화면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4206240" cy="1143000"/>
          </a:xfrm>
          <a:prstGeom prst="rect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40280"/>
            <a:ext cx="54864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2350008"/>
            <a:ext cx="34747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23500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&amp; 타이포 시스템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27157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토큰 · WCAG 접근성 기준 달성 여부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240280"/>
            <a:ext cx="4206240" cy="1143000"/>
          </a:xfrm>
          <a:prstGeom prst="rect">
            <a:avLst/>
          </a:prstGeom>
          <a:solidFill>
            <a:srgbClr val="EDFAF2"/>
          </a:solidFill>
          <a:ln w="12700">
            <a:solidFill>
              <a:srgbClr val="34C7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40280"/>
            <a:ext cx="54864" cy="114300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7176" y="2350008"/>
            <a:ext cx="347472" cy="34747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76088" y="23500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플로우 설계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76088" y="27157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 SOS · 날씨 코스 · 다국어 전환 플로우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4206240" cy="1143000"/>
          </a:xfrm>
          <a:prstGeom prst="rect">
            <a:avLst/>
          </a:prstGeom>
          <a:solidFill>
            <a:srgbClr val="FFF5E6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66160"/>
            <a:ext cx="54864" cy="1143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" y="3675888"/>
            <a:ext cx="347472" cy="34747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" y="36758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시나리오 5단계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" y="40416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→ 지도 → 코스 → 마이페이지 → SOS 실연 순서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566160"/>
            <a:ext cx="4206240" cy="114300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566160"/>
            <a:ext cx="54864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37176" y="3675888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7176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76088" y="36758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로드맵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76088" y="404164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완료 현황 · Phase 2 카카오 연동 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E30"/>
          </a:solidFill>
          <a:ln w="12700">
            <a:solidFill>
              <a:srgbClr val="161E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제품 개요 &amp; 페르소나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926080" cy="4023360"/>
          </a:xfrm>
          <a:prstGeom prst="rect">
            <a:avLst/>
          </a:prstGeom>
          <a:solidFill>
            <a:srgbClr val="161E30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926080" cy="4572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234440"/>
            <a:ext cx="1463040" cy="1463040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344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Lee, 27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1546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미국인  ·  첫 한국 방문  ·  FIT 여행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547872"/>
            <a:ext cx="109728" cy="10972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520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변화(폭염·장마) 대응 불가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730752"/>
            <a:ext cx="109728" cy="10972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033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화장실·안내소 위치 파악 어려움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109728" cy="10972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862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야간 이동·택시 신뢰 문제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96512"/>
            <a:ext cx="109728" cy="10972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0690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긴급상황 대처 방법 모름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822960"/>
            <a:ext cx="2606040" cy="1783080"/>
          </a:xfrm>
          <a:prstGeom prst="rect">
            <a:avLst/>
          </a:prstGeom>
          <a:solidFill>
            <a:srgbClr val="EEF3FF"/>
          </a:solidFill>
          <a:ln w="12700">
            <a:solidFill>
              <a:srgbClr val="4169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822960"/>
            <a:ext cx="54864" cy="178308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1097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the Heat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11880" y="1554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점수 기반 실내/야외 코스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822960"/>
            <a:ext cx="2606040" cy="1783080"/>
          </a:xfrm>
          <a:prstGeom prst="rect">
            <a:avLst/>
          </a:prstGeom>
          <a:solidFill>
            <a:srgbClr val="EDFAF2"/>
          </a:solidFill>
          <a:ln w="12700">
            <a:solidFill>
              <a:srgbClr val="34C7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822960"/>
            <a:ext cx="54864" cy="178308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097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Finder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1554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화장실·안내소·편의점 탐색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2788920"/>
            <a:ext cx="2606040" cy="1783080"/>
          </a:xfrm>
          <a:prstGeom prst="rect">
            <a:avLst/>
          </a:prstGeom>
          <a:solidFill>
            <a:srgbClr val="FFF0E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0" y="2788920"/>
            <a:ext cx="54864" cy="17830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Center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11880" y="3520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112·119·1330 원터치 긴급 허브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788920"/>
            <a:ext cx="2606040" cy="1783080"/>
          </a:xfrm>
          <a:prstGeom prst="rect">
            <a:avLst/>
          </a:prstGeom>
          <a:solidFill>
            <a:srgbClr val="FFF5E6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788920"/>
            <a:ext cx="54864" cy="178308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8개국어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55080" y="3520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EN·KO·JA·ZH·MS·FR·DE·ES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FFFBE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북극성 지표:  안전 필터 적용 추천 코스 실행률 &gt;= 60%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E30"/>
          </a:solidFill>
          <a:ln w="12700">
            <a:solidFill>
              <a:srgbClr val="161E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최종 디자인 시안 — SOS Center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645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2560320" cy="406908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978408"/>
            <a:ext cx="2340864" cy="3849624"/>
          </a:xfrm>
          <a:prstGeom prst="roundRect">
            <a:avLst>
              <a:gd name="adj" fmla="val 859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1024128"/>
            <a:ext cx="768096" cy="164592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618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261872"/>
            <a:ext cx="1078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(English)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" y="1572768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70432" y="1828800"/>
            <a:ext cx="1133856" cy="1133856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  <a:effectLst>
            <a:outerShdw sx="100000" sy="100000" kx="0" ky="0" algn="bl" rotWithShape="0" blurRad="254000" dist="50800" dir="16200000">
              <a:srgbClr val="CC0000">
                <a:alpha val="6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70432" y="182880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70432" y="246888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&amp; HOLD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658368" y="3090672"/>
            <a:ext cx="2157984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1455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37.5665 N, 126.9780 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232" y="33649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Seoul, South Korea  ·  GPS Active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58368" y="3840480"/>
            <a:ext cx="10058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773936" y="3840480"/>
            <a:ext cx="1042416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73936" y="3840480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112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127248" y="1737360"/>
            <a:ext cx="457200" cy="0"/>
          </a:xfrm>
          <a:prstGeom prst="line">
            <a:avLst/>
          </a:prstGeom>
          <a:noFill/>
          <a:ln w="12700">
            <a:solidFill>
              <a:srgbClr val="4169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1645920"/>
            <a:ext cx="2560320" cy="640080"/>
          </a:xfrm>
          <a:prstGeom prst="rect">
            <a:avLst/>
          </a:prstGeom>
          <a:solidFill>
            <a:srgbClr val="161E30"/>
          </a:solidFill>
          <a:ln w="10160">
            <a:solidFill>
              <a:srgbClr val="4169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11880" y="1645920"/>
            <a:ext cx="36576" cy="64008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17007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드롭다운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EN/KO/JA/ZH 4개국어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우측 항상 노출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27248" y="2514600"/>
            <a:ext cx="457200" cy="0"/>
          </a:xfrm>
          <a:prstGeom prst="line">
            <a:avLst/>
          </a:prstGeom>
          <a:noFill/>
          <a:ln w="12700">
            <a:solidFill>
              <a:srgbClr val="E53E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2423160"/>
            <a:ext cx="2560320" cy="640080"/>
          </a:xfrm>
          <a:prstGeom prst="rect">
            <a:avLst/>
          </a:prstGeom>
          <a:solidFill>
            <a:srgbClr val="161E30"/>
          </a:solidFill>
          <a:ln w="10160">
            <a:solidFill>
              <a:srgbClr val="E53E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2423160"/>
            <a:ext cx="36576" cy="6400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47802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Pulse 버튼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0332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120px 대형 버튼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&amp; HOLD UX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애니메이션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27248" y="3337560"/>
            <a:ext cx="457200" cy="0"/>
          </a:xfrm>
          <a:prstGeom prst="line">
            <a:avLst/>
          </a:prstGeom>
          <a:noFill/>
          <a:ln w="12700">
            <a:solidFill>
              <a:srgbClr val="34C75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3246120"/>
            <a:ext cx="2560320" cy="640080"/>
          </a:xfrm>
          <a:prstGeom prst="rect">
            <a:avLst/>
          </a:prstGeom>
          <a:solidFill>
            <a:srgbClr val="161E30"/>
          </a:solidFill>
          <a:ln w="10160">
            <a:solidFill>
              <a:srgbClr val="34C7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3246120"/>
            <a:ext cx="36576" cy="64008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33009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위치 자동 표시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03320" y="3520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+ 주소 + 정확도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오프라인에서도 캐시 사용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27248" y="4041648"/>
            <a:ext cx="457200" cy="0"/>
          </a:xfrm>
          <a:prstGeom prst="line">
            <a:avLst/>
          </a:prstGeom>
          <a:noFill/>
          <a:ln w="12700">
            <a:solidFill>
              <a:srgbClr val="FF95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11880" y="3950208"/>
            <a:ext cx="2560320" cy="640080"/>
          </a:xfrm>
          <a:prstGeom prst="rect">
            <a:avLst/>
          </a:prstGeom>
          <a:solidFill>
            <a:srgbClr val="161E30"/>
          </a:solidFill>
          <a:ln w="10160">
            <a:solidFill>
              <a:srgbClr val="FF95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3950208"/>
            <a:ext cx="36576" cy="64008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40050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 액션 2버튼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03320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ALERT(outline) · CALL(fill)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시각적 위계 명확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868680"/>
            <a:ext cx="2606040" cy="4069080"/>
          </a:xfrm>
          <a:prstGeom prst="rect">
            <a:avLst/>
          </a:prstGeom>
          <a:solidFill>
            <a:srgbClr val="0D1020"/>
          </a:solidFill>
          <a:ln w="10160">
            <a:solidFill>
              <a:srgbClr val="2D37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9601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검수 결과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1380744"/>
            <a:ext cx="182880" cy="18288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1380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93408" y="13624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버튼 크기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93408" y="155448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120×120px (기준: 44+)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46520" y="1837944"/>
            <a:ext cx="182880" cy="18288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18379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93408" y="18196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대비비 Red/Dark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693408" y="201168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7.2:1 (WCAG AA)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46520" y="2295144"/>
            <a:ext cx="182880" cy="18288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22951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93408" y="22768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표시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93408" y="246888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좌표+주소+정확도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46520" y="2752344"/>
            <a:ext cx="182880" cy="18288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2752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93408" y="27340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작동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693408" y="292608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번들 포함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46520" y="3209544"/>
            <a:ext cx="182880" cy="18288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3209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93408" y="31912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전환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93408" y="338328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드롭다운 즉시 반영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46520" y="3666744"/>
            <a:ext cx="182880" cy="18288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46520" y="3666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693408" y="36484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폴백 UX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693408" y="384048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 실패 → 클립보드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최종 디자인 시안 — Home Dashboard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97480" cy="4069080"/>
          </a:xfrm>
          <a:prstGeom prst="roundRect">
            <a:avLst>
              <a:gd name="adj" fmla="val 10169"/>
            </a:avLst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978408"/>
            <a:ext cx="2478024" cy="3849624"/>
          </a:xfrm>
          <a:prstGeom prst="roundRect">
            <a:avLst>
              <a:gd name="adj" fmla="val 8856"/>
            </a:avLst>
          </a:prstGeom>
          <a:solidFill>
            <a:srgbClr val="0D0F14"/>
          </a:solidFill>
          <a:ln w="12700">
            <a:solidFill>
              <a:srgbClr val="0D0F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024128"/>
            <a:ext cx="822960" cy="164592"/>
          </a:xfrm>
          <a:prstGeom prst="roundRect">
            <a:avLst>
              <a:gd name="adj" fmla="val 4444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07008"/>
            <a:ext cx="2478024" cy="384048"/>
          </a:xfrm>
          <a:prstGeom prst="rect">
            <a:avLst/>
          </a:prstGeom>
          <a:solidFill>
            <a:srgbClr val="AA5500"/>
          </a:solidFill>
          <a:ln w="12700">
            <a:solidFill>
              <a:srgbClr val="AA5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070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 WARNING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66928" y="140817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Floods possible. Stay Indoors.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2286000" cy="1097280"/>
          </a:xfrm>
          <a:prstGeom prst="rect">
            <a:avLst/>
          </a:prstGeom>
          <a:solidFill>
            <a:srgbClr val="1A2E1A"/>
          </a:solidFill>
          <a:ln w="6350">
            <a:solidFill>
              <a:srgbClr val="2D4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7373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SAFE ZONES MAP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777240" y="2029968"/>
            <a:ext cx="146304" cy="146304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0116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103120" y="1920240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1901952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66928" y="28529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SAFETY ALERTS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566928" y="3063240"/>
            <a:ext cx="1097280" cy="548640"/>
          </a:xfrm>
          <a:prstGeom prst="rect">
            <a:avLst/>
          </a:prstGeom>
          <a:solidFill>
            <a:srgbClr val="1C1C2E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118104"/>
            <a:ext cx="182880" cy="18288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118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41248" y="310896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Check-in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737360" y="3063240"/>
            <a:ext cx="1097280" cy="548640"/>
          </a:xfrm>
          <a:prstGeom prst="rect">
            <a:avLst/>
          </a:prstGeom>
          <a:solidFill>
            <a:srgbClr val="1C1C2E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2224" y="3118104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92224" y="3118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011680" y="310896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Warning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66928" y="3703320"/>
            <a:ext cx="2286000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EMERGENCY ALERT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337560" y="868680"/>
            <a:ext cx="2697480" cy="4069080"/>
          </a:xfrm>
          <a:prstGeom prst="roundRect">
            <a:avLst>
              <a:gd name="adj" fmla="val 10169"/>
            </a:avLst>
          </a:prstGeom>
          <a:solidFill>
            <a:srgbClr val="222222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47288" y="978408"/>
            <a:ext cx="2478024" cy="3849624"/>
          </a:xfrm>
          <a:prstGeom prst="roundRect">
            <a:avLst>
              <a:gd name="adj" fmla="val 8856"/>
            </a:avLst>
          </a:prstGeom>
          <a:solidFill>
            <a:srgbClr val="EAEEF5"/>
          </a:solidFill>
          <a:ln w="12700">
            <a:solidFill>
              <a:srgbClr val="EAEE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024128"/>
            <a:ext cx="822960" cy="164592"/>
          </a:xfrm>
          <a:prstGeom prst="roundRect">
            <a:avLst>
              <a:gd name="adj" fmla="val 44444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1261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Seoul, Gangnam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96128" y="1243584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1243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47872" y="1572768"/>
            <a:ext cx="2194560" cy="868680"/>
          </a:xfrm>
          <a:prstGeom prst="roundRect">
            <a:avLst>
              <a:gd name="adj" fmla="val 1052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16459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15C  Feels like 14C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39312" y="195681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is relatively safe.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39312" y="2157984"/>
            <a:ext cx="137160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9312" y="2157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Cooling Shelter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547872" y="248716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Alternatives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93792" y="24871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47872" y="2761488"/>
            <a:ext cx="1042416" cy="1371600"/>
          </a:xfrm>
          <a:prstGeom prst="rect">
            <a:avLst/>
          </a:prstGeom>
          <a:solidFill>
            <a:srgbClr val="FFFFFF"/>
          </a:solidFill>
          <a:ln w="381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547872" y="2761488"/>
            <a:ext cx="1042416" cy="7315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02736" y="281635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3602736" y="35295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 Mall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02736" y="374904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km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2761488"/>
            <a:ext cx="1042416" cy="1371600"/>
          </a:xfrm>
          <a:prstGeom prst="rect">
            <a:avLst/>
          </a:prstGeom>
          <a:solidFill>
            <a:srgbClr val="FFFFFF"/>
          </a:solidFill>
          <a:ln w="3810">
            <a:solidFill>
              <a:srgbClr val="ED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2761488"/>
            <a:ext cx="1042416" cy="7315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281635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718304" y="35295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Hyundai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18304" y="374904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km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99632" y="960120"/>
            <a:ext cx="2743200" cy="566928"/>
          </a:xfrm>
          <a:prstGeom prst="rect">
            <a:avLst/>
          </a:prstGeom>
          <a:solidFill>
            <a:srgbClr val="EEF3FF"/>
          </a:solidFill>
          <a:ln w="1016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99632" y="960120"/>
            <a:ext cx="45720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1014984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경보 배너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09360" y="125272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그라데이션 배너로 시각적 긴급도 전달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99632" y="1691640"/>
            <a:ext cx="2743200" cy="566928"/>
          </a:xfrm>
          <a:prstGeom prst="rect">
            <a:avLst/>
          </a:prstGeom>
          <a:solidFill>
            <a:srgbClr val="EEF3FF"/>
          </a:solidFill>
          <a:ln w="10160">
            <a:solidFill>
              <a:srgbClr val="34C7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99632" y="1691640"/>
            <a:ext cx="45720" cy="566928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746504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Zone 지도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09360" y="198424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홈·직장·공원·대피소 핀 즉시 표시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99632" y="2834640"/>
            <a:ext cx="2743200" cy="566928"/>
          </a:xfrm>
          <a:prstGeom prst="rect">
            <a:avLst/>
          </a:prstGeom>
          <a:solidFill>
            <a:srgbClr val="EEF3FF"/>
          </a:solidFill>
          <a:ln w="10160">
            <a:solidFill>
              <a:srgbClr val="4169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99632" y="2834640"/>
            <a:ext cx="45720" cy="566928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2889504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Alerts 목록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309360" y="312724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알림 3건 스크롤 카드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99632" y="3639312"/>
            <a:ext cx="2743200" cy="566928"/>
          </a:xfrm>
          <a:prstGeom prst="rect">
            <a:avLst/>
          </a:prstGeom>
          <a:solidFill>
            <a:srgbClr val="EEF3FF"/>
          </a:solidFill>
          <a:ln w="1016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99632" y="3639312"/>
            <a:ext cx="45720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3694176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버튼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309360" y="393192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고정 · 전체 폭 · 강조색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컬러 &amp; 타이포그래피 시스템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325880" cy="10058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7.2:1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9385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1762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긴급·위험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35915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#E53E3E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37360" y="868680"/>
            <a:ext cx="1325880" cy="100584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86868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5.1:1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19385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Green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762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안전·통과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235915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#34C759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1325880" cy="100584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86868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4.8:1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19385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Primary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1762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액션·네비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235915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#4169E1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1325880" cy="10058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86868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3.2:1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19385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Orange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1762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주의·경고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235915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#FF9500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868680"/>
            <a:ext cx="1325880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86868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9.8:1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0" y="19385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Yellow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1762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강조·뱃지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235915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#FFD700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589520" y="868680"/>
            <a:ext cx="1325880" cy="100584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86868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17.1:1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89520" y="193852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21762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배경·텍스트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89520" y="235915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#0B1426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" y="2670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타이포그래피 시스템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3017520"/>
            <a:ext cx="8595360" cy="402336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0175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제목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304288" y="30175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Bold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41648" y="30175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36–88pt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30368" y="301752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타이틀, 대형 수치, 브랜드명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493008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4930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본문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04288" y="349300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41648" y="349300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9–14pt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30368" y="349300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텍스트, 카드 내용, 안내문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968496"/>
            <a:ext cx="8595360" cy="402336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39684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코드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304288" y="396849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Mono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41648" y="39684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7–11pt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0368" y="3968496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배지, 코드, 메타 정보, GPS 좌표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443984"/>
            <a:ext cx="859536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44439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보조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304288" y="444398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KR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041648" y="444398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9–14pt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30368" y="444398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표시, 다국어 지원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UX 플로우 설계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solidFill>
            <a:srgbClr val="FFF0EE"/>
          </a:solidFill>
          <a:ln w="1016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  — SOS 긴급 플로우  (최우선)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12064" cy="51206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탭 1탭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77824" y="1426464"/>
            <a:ext cx="1152144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170432"/>
            <a:ext cx="512064" cy="51206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자동 감지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2032" y="1426464"/>
            <a:ext cx="1152144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94176" y="1170432"/>
            <a:ext cx="512064" cy="51206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1568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선택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1426464"/>
            <a:ext cx="1152144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58384" y="1170432"/>
            <a:ext cx="512064" cy="51206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65776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119/112/1330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70448" y="1426464"/>
            <a:ext cx="1152144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22592" y="1170432"/>
            <a:ext cx="512064" cy="512064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9984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 실패 시 폴백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121408"/>
            <a:ext cx="8595360" cy="256032"/>
          </a:xfrm>
          <a:prstGeom prst="rect">
            <a:avLst/>
          </a:prstGeom>
          <a:solidFill>
            <a:srgbClr val="EEF3FF"/>
          </a:solidFill>
          <a:ln w="10160">
            <a:solidFill>
              <a:srgbClr val="4169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1214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  — 날씨 코스 추천 플로우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468880"/>
            <a:ext cx="512064" cy="512064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" y="3035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API 수신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77824" y="2724912"/>
            <a:ext cx="1152144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29968" y="2468880"/>
            <a:ext cx="512064" cy="512064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9968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737360" y="3035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계산(0-100)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42032" y="2724912"/>
            <a:ext cx="1152144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94176" y="2468880"/>
            <a:ext cx="512064" cy="512064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94176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01568" y="3035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폭염 → 실내 우선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06240" y="2724912"/>
            <a:ext cx="1152144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58384" y="2468880"/>
            <a:ext cx="512064" cy="512064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58384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65776" y="3035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 카드 표시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70448" y="2724912"/>
            <a:ext cx="1152144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22592" y="2468880"/>
            <a:ext cx="512064" cy="51206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22592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29984" y="3035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경로 안내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3401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설계 원칙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3730752"/>
            <a:ext cx="2029968" cy="1051560"/>
          </a:xfrm>
          <a:prstGeom prst="rect">
            <a:avLst/>
          </a:prstGeom>
          <a:solidFill>
            <a:srgbClr val="0B1426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785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65760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항상 1탭 이내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450592" y="3730752"/>
            <a:ext cx="2029968" cy="1051560"/>
          </a:xfrm>
          <a:prstGeom prst="rect">
            <a:avLst/>
          </a:prstGeom>
          <a:solidFill>
            <a:srgbClr val="0B1426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42032" y="3785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2542032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OK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542032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SOS·문장카드 오프라인 작동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26864" y="3730752"/>
            <a:ext cx="2029968" cy="1051560"/>
          </a:xfrm>
          <a:prstGeom prst="rect">
            <a:avLst/>
          </a:prstGeom>
          <a:solidFill>
            <a:srgbClr val="0B1426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18304" y="3785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4718304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718304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→ UI 전체 즉시 반영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03136" y="3730752"/>
            <a:ext cx="2029968" cy="1051560"/>
          </a:xfrm>
          <a:prstGeom prst="rect">
            <a:avLst/>
          </a:prstGeom>
          <a:solidFill>
            <a:srgbClr val="0B1426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94576" y="3785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894576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중립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894576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아이콘+색상 중심 설계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시연 시나리오 5단계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EEF3FF"/>
          </a:solidFill>
          <a:ln w="12700">
            <a:solidFill>
              <a:srgbClr val="4169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658368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960120"/>
            <a:ext cx="402336" cy="402336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60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96112" y="9144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화면 (Home)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18872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날씨 경보 배너 탭 → Indoor Alternatives 카드 스크롤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658368"/>
          </a:xfrm>
          <a:prstGeom prst="rect">
            <a:avLst/>
          </a:prstGeom>
          <a:solidFill>
            <a:srgbClr val="EDFAF2"/>
          </a:solidFill>
          <a:ln w="12700">
            <a:solidFill>
              <a:srgbClr val="34C7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27632"/>
            <a:ext cx="54864" cy="658368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1764792"/>
            <a:ext cx="402336" cy="402336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96112" y="17190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탐색 (Map)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199339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Safe Zone 핀 탭 → 바텀시트 → 길찾기 (카카오 딥링크)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8595360" cy="658368"/>
          </a:xfrm>
          <a:prstGeom prst="rect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32304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2569464"/>
            <a:ext cx="402336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96112" y="2523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코스 추천 (Course)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279806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Indoor 코스 카드 탭 → 경로 상세 → 코스 시작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36976"/>
            <a:ext cx="8595360" cy="658368"/>
          </a:xfrm>
          <a:prstGeom prst="rect">
            <a:avLst/>
          </a:prstGeom>
          <a:solidFill>
            <a:srgbClr val="FFF5E6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36976"/>
            <a:ext cx="54864" cy="65836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" y="3374136"/>
            <a:ext cx="402336" cy="40233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96112" y="33284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 &amp; 다국어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" y="360273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언어 드롭다운 → KO/JA 선택 → UI 전체 즉시 전환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8595360" cy="658368"/>
          </a:xfrm>
          <a:prstGeom prst="rect">
            <a:avLst/>
          </a:prstGeom>
          <a:solidFill>
            <a:srgbClr val="FFF0E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41648"/>
            <a:ext cx="54864" cy="6583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" y="4178808"/>
            <a:ext cx="402336" cy="40233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96112" y="4133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 SOS 기능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6112" y="4407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FAB 탭 → SOS Center → PRESS &amp; HOLD → 112 연결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E30"/>
          </a:solidFill>
          <a:ln w="12700">
            <a:solidFill>
              <a:srgbClr val="161E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개선 로드맵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4069080"/>
          </a:xfrm>
          <a:prstGeom prst="rect">
            <a:avLst/>
          </a:prstGeom>
          <a:solidFill>
            <a:srgbClr val="1A2540"/>
          </a:solidFill>
          <a:ln w="19050">
            <a:solidFill>
              <a:srgbClr val="34C7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7315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9144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914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261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완료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" y="16459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" y="1938528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93852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전화 폴백 구현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" y="2359152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35915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번들 캐시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" y="2779776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77977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API 크래시 수정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" y="3200400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2004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오버플로우 수정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" y="3621024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62102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 WCAG AA 달성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36392" y="822960"/>
            <a:ext cx="2743200" cy="4069080"/>
          </a:xfrm>
          <a:prstGeom prst="rect">
            <a:avLst/>
          </a:prstGeom>
          <a:solidFill>
            <a:srgbClr val="1A2540"/>
          </a:solidFill>
          <a:ln w="19050">
            <a:solidFill>
              <a:srgbClr val="4169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36392" y="822960"/>
            <a:ext cx="2743200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6472" y="9144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6472" y="914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P1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36392" y="1261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고도화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136392" y="16459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1938528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93852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Map SDK 실연동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2359152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35915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혼잡도 TimescaleDB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64408" y="2779776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77977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헤더 sticky 고정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64408" y="3200400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2004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 모드 지원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64408" y="3621024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62102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알림 FCM 고도화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44184" y="822960"/>
            <a:ext cx="2743200" cy="4069080"/>
          </a:xfrm>
          <a:prstGeom prst="rect">
            <a:avLst/>
          </a:prstGeom>
          <a:solidFill>
            <a:srgbClr val="1A254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44184" y="82296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84264" y="9144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84264" y="914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P2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44184" y="1261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스케일업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044184" y="16459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1938528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45352" y="193852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 ML 추천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2359152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45352" y="235915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 모델 도입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2779776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277977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데이터 납품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3200400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45352" y="32004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부산·제주 확장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72200" y="3621024"/>
            <a:ext cx="2487168" cy="347472"/>
          </a:xfrm>
          <a:prstGeom prst="rect">
            <a:avLst/>
          </a:prstGeom>
          <a:solidFill>
            <a:srgbClr val="212E4A"/>
          </a:solidFill>
          <a:ln w="5080">
            <a:solidFill>
              <a:srgbClr val="2D3F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45352" y="362102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DE/ES/FR 언어 추가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SafeK Summer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외국인 여행자</a:t>
            </a:r>
            <a:pPr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안전한 한국 여행을 위한 </a:t>
            </a:r>
            <a:pPr indent="0" marL="0">
              <a:buNone/>
            </a:pPr>
            <a:r>
              <a:rPr lang="en-US" sz="18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가이드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 실행률 목표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5176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51760" y="3063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DAU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8개국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3063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지원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&lt;2초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58000" y="3063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응답 시간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4005072"/>
            <a:ext cx="804672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879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Lab  ·  전형석  ·  SafeK v1.0  ·  2026.04.15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SafeK Summer — 최종 UI/UX 검수 발표</dc:title>
  <dc:subject>PptxGenJS Presentation</dc:subject>
  <dc:creator>BEZ Lab</dc:creator>
  <cp:lastModifiedBy>BEZ Lab</cp:lastModifiedBy>
  <cp:revision>1</cp:revision>
  <dcterms:created xsi:type="dcterms:W3CDTF">2026-04-17T12:39:13Z</dcterms:created>
  <dcterms:modified xsi:type="dcterms:W3CDTF">2026-04-17T12:39:13Z</dcterms:modified>
</cp:coreProperties>
</file>